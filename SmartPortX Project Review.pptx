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League Spartan" charset="1" panose="00000800000000000000"/>
      <p:regular r:id="rId19"/>
    </p:embeddedFont>
    <p:embeddedFont>
      <p:font typeface="IBM Plex Sans Bold" charset="1" panose="020B0803050203000203"/>
      <p:regular r:id="rId20"/>
    </p:embeddedFont>
    <p:embeddedFont>
      <p:font typeface="IBM Plex Sans" charset="1" panose="020B0503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1550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315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19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1104900"/>
            <a:ext cx="7239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SEMESTER PROJECT · SYSTEM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275" y="2198942"/>
            <a:ext cx="8096250" cy="294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19"/>
              </a:lnSpc>
            </a:pPr>
            <a:r>
              <a:rPr lang="en-US" sz="115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</a:t>
            </a:r>
          </a:p>
          <a:p>
            <a:pPr algn="l">
              <a:lnSpc>
                <a:spcPts val="11319"/>
              </a:lnSpc>
            </a:pPr>
            <a:r>
              <a:rPr lang="en-US" sz="115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PORT-X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686425"/>
            <a:ext cx="76200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Intelligent Yard Orchestration</a:t>
            </a:r>
          </a:p>
          <a:p>
            <a:pPr algn="l">
              <a:lnSpc>
                <a:spcPts val="3705"/>
              </a:lnSpc>
            </a:pPr>
            <a:r>
              <a:rPr lang="en-US" sz="2850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and Gate Coordination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6991350"/>
            <a:ext cx="7239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Connecting Yard, Gate, Vessel and Integration Operations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 We Identified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3810000"/>
            <a:ext cx="3238500" cy="1428750"/>
            <a:chOff x="0" y="0"/>
            <a:chExt cx="4318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286250" y="4524375"/>
            <a:ext cx="819150" cy="0"/>
          </a:xfrm>
          <a:prstGeom prst="line">
            <a:avLst/>
          </a:prstGeom>
          <a:ln cap="rnd" w="38100">
            <a:solidFill>
              <a:srgbClr val="AEB3B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5334000" y="3810000"/>
            <a:ext cx="3238500" cy="1428750"/>
            <a:chOff x="0" y="0"/>
            <a:chExt cx="4318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1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GATE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572500" y="4524375"/>
            <a:ext cx="819150" cy="0"/>
          </a:xfrm>
          <a:prstGeom prst="line">
            <a:avLst/>
          </a:prstGeom>
          <a:ln cap="rnd" w="38100">
            <a:solidFill>
              <a:srgbClr val="AEB3B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620250" y="3810000"/>
            <a:ext cx="3238500" cy="1428750"/>
            <a:chOff x="0" y="0"/>
            <a:chExt cx="4318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1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VESSEL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2858750" y="4524375"/>
            <a:ext cx="819150" cy="0"/>
          </a:xfrm>
          <a:prstGeom prst="line">
            <a:avLst/>
          </a:prstGeom>
          <a:ln cap="rnd" w="38100">
            <a:solidFill>
              <a:srgbClr val="AEB3B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3906500" y="3810000"/>
            <a:ext cx="3238500" cy="1428750"/>
            <a:chOff x="0" y="0"/>
            <a:chExt cx="4318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1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867647"/>
                  </a:lnTo>
                  <a:cubicBezTo>
                    <a:pt x="4318000" y="1877554"/>
                    <a:pt x="4314065" y="1887055"/>
                    <a:pt x="4307060" y="1894060"/>
                  </a:cubicBezTo>
                  <a:cubicBezTo>
                    <a:pt x="4300055" y="1901065"/>
                    <a:pt x="4290554" y="1905000"/>
                    <a:pt x="4280647" y="1905000"/>
                  </a:cubicBezTo>
                  <a:lnTo>
                    <a:pt x="37353" y="1905000"/>
                  </a:lnTo>
                  <a:cubicBezTo>
                    <a:pt x="27446" y="1905000"/>
                    <a:pt x="17945" y="1901065"/>
                    <a:pt x="10940" y="1894060"/>
                  </a:cubicBezTo>
                  <a:cubicBezTo>
                    <a:pt x="3935" y="1887055"/>
                    <a:pt x="0" y="1877554"/>
                    <a:pt x="0" y="1867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4318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SYSTEMS + DATA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47750" y="5553075"/>
            <a:ext cx="323850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Unnecessary container movements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4000" y="5553075"/>
            <a:ext cx="3238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Truck queues at check-in / 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0250" y="5553075"/>
            <a:ext cx="323850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Schedules disconnected from yard state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06500" y="5553075"/>
            <a:ext cx="323850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Scattered workflows and interfaces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095500" y="7477125"/>
            <a:ext cx="14097000" cy="1428750"/>
            <a:chOff x="0" y="0"/>
            <a:chExt cx="18796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79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8796000">
                  <a:moveTo>
                    <a:pt x="0" y="0"/>
                  </a:moveTo>
                  <a:lnTo>
                    <a:pt x="18796000" y="0"/>
                  </a:lnTo>
                  <a:lnTo>
                    <a:pt x="18796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796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476500" y="8044244"/>
            <a:ext cx="13335000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70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Operational information exists, but coordination is the real challenge.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171A1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This Problem Matters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38500" y="2857500"/>
            <a:ext cx="11811000" cy="1000125"/>
            <a:chOff x="0" y="0"/>
            <a:chExt cx="15748000" cy="133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4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5748000">
                  <a:moveTo>
                    <a:pt x="10242" y="0"/>
                  </a:moveTo>
                  <a:lnTo>
                    <a:pt x="15737759" y="0"/>
                  </a:lnTo>
                  <a:cubicBezTo>
                    <a:pt x="15740475" y="0"/>
                    <a:pt x="15743079" y="1079"/>
                    <a:pt x="15745000" y="3000"/>
                  </a:cubicBezTo>
                  <a:cubicBezTo>
                    <a:pt x="15746921" y="4921"/>
                    <a:pt x="15748000" y="7526"/>
                    <a:pt x="15748000" y="10242"/>
                  </a:cubicBezTo>
                  <a:lnTo>
                    <a:pt x="15748000" y="1323258"/>
                  </a:lnTo>
                  <a:cubicBezTo>
                    <a:pt x="15748000" y="1325974"/>
                    <a:pt x="15746921" y="1328579"/>
                    <a:pt x="15745000" y="1330500"/>
                  </a:cubicBezTo>
                  <a:cubicBezTo>
                    <a:pt x="15743079" y="1332421"/>
                    <a:pt x="15740475" y="1333500"/>
                    <a:pt x="15737759" y="1333500"/>
                  </a:cubicBezTo>
                  <a:lnTo>
                    <a:pt x="10242" y="1333500"/>
                  </a:lnTo>
                  <a:cubicBezTo>
                    <a:pt x="7526" y="1333500"/>
                    <a:pt x="4921" y="1332421"/>
                    <a:pt x="3000" y="1330500"/>
                  </a:cubicBezTo>
                  <a:cubicBezTo>
                    <a:pt x="1079" y="1328579"/>
                    <a:pt x="0" y="1325974"/>
                    <a:pt x="0" y="1323258"/>
                  </a:cubicBezTo>
                  <a:lnTo>
                    <a:pt x="0" y="10242"/>
                  </a:lnTo>
                  <a:cubicBezTo>
                    <a:pt x="0" y="7526"/>
                    <a:pt x="1079" y="4921"/>
                    <a:pt x="3000" y="3000"/>
                  </a:cubicBezTo>
                  <a:cubicBezTo>
                    <a:pt x="4921" y="1079"/>
                    <a:pt x="7526" y="0"/>
                    <a:pt x="10242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5748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 SILOS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9144000" y="3857625"/>
            <a:ext cx="0" cy="47625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143375" y="4476750"/>
            <a:ext cx="10001250" cy="1000125"/>
            <a:chOff x="0" y="0"/>
            <a:chExt cx="13335000" cy="133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3335000">
                  <a:moveTo>
                    <a:pt x="12095" y="0"/>
                  </a:moveTo>
                  <a:lnTo>
                    <a:pt x="13322905" y="0"/>
                  </a:lnTo>
                  <a:cubicBezTo>
                    <a:pt x="13326112" y="0"/>
                    <a:pt x="13329190" y="1274"/>
                    <a:pt x="13331458" y="3543"/>
                  </a:cubicBezTo>
                  <a:cubicBezTo>
                    <a:pt x="13333726" y="5811"/>
                    <a:pt x="13335000" y="8887"/>
                    <a:pt x="13335000" y="12095"/>
                  </a:cubicBezTo>
                  <a:lnTo>
                    <a:pt x="13335000" y="1321405"/>
                  </a:lnTo>
                  <a:cubicBezTo>
                    <a:pt x="13335000" y="1324613"/>
                    <a:pt x="13333726" y="1327689"/>
                    <a:pt x="13331458" y="1329957"/>
                  </a:cubicBezTo>
                  <a:cubicBezTo>
                    <a:pt x="13329190" y="1332226"/>
                    <a:pt x="13326112" y="1333500"/>
                    <a:pt x="13322905" y="1333500"/>
                  </a:cubicBezTo>
                  <a:lnTo>
                    <a:pt x="12095" y="1333500"/>
                  </a:lnTo>
                  <a:cubicBezTo>
                    <a:pt x="8887" y="1333500"/>
                    <a:pt x="5811" y="1332226"/>
                    <a:pt x="3543" y="1329957"/>
                  </a:cubicBezTo>
                  <a:cubicBezTo>
                    <a:pt x="1274" y="1327689"/>
                    <a:pt x="0" y="1324613"/>
                    <a:pt x="0" y="1321405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3335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LIMITED VISIBILITY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44000" y="5476875"/>
            <a:ext cx="0" cy="47625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5048250" y="6096000"/>
            <a:ext cx="8191500" cy="1000125"/>
            <a:chOff x="0" y="0"/>
            <a:chExt cx="10922000" cy="13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22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0922000">
                  <a:moveTo>
                    <a:pt x="14767" y="0"/>
                  </a:moveTo>
                  <a:lnTo>
                    <a:pt x="10907233" y="0"/>
                  </a:lnTo>
                  <a:cubicBezTo>
                    <a:pt x="10915389" y="0"/>
                    <a:pt x="10922000" y="6612"/>
                    <a:pt x="10922000" y="14767"/>
                  </a:cubicBezTo>
                  <a:lnTo>
                    <a:pt x="10922000" y="1318733"/>
                  </a:lnTo>
                  <a:cubicBezTo>
                    <a:pt x="10922000" y="1326888"/>
                    <a:pt x="10915389" y="1333500"/>
                    <a:pt x="10907233" y="1333500"/>
                  </a:cubicBezTo>
                  <a:lnTo>
                    <a:pt x="14767" y="1333500"/>
                  </a:lnTo>
                  <a:cubicBezTo>
                    <a:pt x="6612" y="1333500"/>
                    <a:pt x="0" y="1326888"/>
                    <a:pt x="0" y="1318733"/>
                  </a:cubicBezTo>
                  <a:lnTo>
                    <a:pt x="0" y="14767"/>
                  </a:lnTo>
                  <a:cubicBezTo>
                    <a:pt x="0" y="6612"/>
                    <a:pt x="6612" y="0"/>
                    <a:pt x="14767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0922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SLOWER COORDINATION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144000" y="7096125"/>
            <a:ext cx="0" cy="47625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5953125" y="7715250"/>
            <a:ext cx="6381750" cy="1000125"/>
            <a:chOff x="0" y="0"/>
            <a:chExt cx="8509000" cy="133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8509000">
                  <a:moveTo>
                    <a:pt x="18955" y="0"/>
                  </a:moveTo>
                  <a:lnTo>
                    <a:pt x="8490045" y="0"/>
                  </a:lnTo>
                  <a:cubicBezTo>
                    <a:pt x="8495072" y="0"/>
                    <a:pt x="8499894" y="1997"/>
                    <a:pt x="8503448" y="5552"/>
                  </a:cubicBezTo>
                  <a:cubicBezTo>
                    <a:pt x="8507003" y="9107"/>
                    <a:pt x="8509000" y="13928"/>
                    <a:pt x="8509000" y="18955"/>
                  </a:cubicBezTo>
                  <a:lnTo>
                    <a:pt x="8509000" y="1314545"/>
                  </a:lnTo>
                  <a:cubicBezTo>
                    <a:pt x="8509000" y="1319572"/>
                    <a:pt x="8507003" y="1324393"/>
                    <a:pt x="8503448" y="1327948"/>
                  </a:cubicBezTo>
                  <a:cubicBezTo>
                    <a:pt x="8499894" y="1331503"/>
                    <a:pt x="8495072" y="1333500"/>
                    <a:pt x="8490045" y="1333500"/>
                  </a:cubicBezTo>
                  <a:lnTo>
                    <a:pt x="18955" y="1333500"/>
                  </a:lnTo>
                  <a:cubicBezTo>
                    <a:pt x="13928" y="1333500"/>
                    <a:pt x="9107" y="1331503"/>
                    <a:pt x="5552" y="1327948"/>
                  </a:cubicBezTo>
                  <a:cubicBezTo>
                    <a:pt x="1997" y="1324393"/>
                    <a:pt x="0" y="1319572"/>
                    <a:pt x="0" y="1314545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8509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OPERATIONAL BOTTLENECKS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43900" y="7067550"/>
            <a:ext cx="4000500" cy="166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1A1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Coordination gaps compound: extra moves increase complexity, queues add pressure, and fragmented context delays exception detection.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Solution — SmartPortX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3952875" y="3409950"/>
            <a:ext cx="5191125" cy="13525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3952875" y="4762500"/>
            <a:ext cx="5191125" cy="19812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9144000" y="4762500"/>
            <a:ext cx="0" cy="30289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9144000" y="4762500"/>
            <a:ext cx="5191125" cy="19812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H="true">
            <a:off x="9144000" y="3409950"/>
            <a:ext cx="5191125" cy="13525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9144000" y="2838450"/>
            <a:ext cx="0" cy="19240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7000875" y="3714750"/>
            <a:ext cx="4286250" cy="2095500"/>
            <a:chOff x="0" y="0"/>
            <a:chExt cx="57150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5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2765778"/>
                  </a:lnTo>
                  <a:cubicBezTo>
                    <a:pt x="5715000" y="2773263"/>
                    <a:pt x="5712027" y="2780441"/>
                    <a:pt x="5706734" y="2785734"/>
                  </a:cubicBezTo>
                  <a:cubicBezTo>
                    <a:pt x="5701441" y="2791027"/>
                    <a:pt x="5694263" y="2794000"/>
                    <a:pt x="5686778" y="2794000"/>
                  </a:cubicBezTo>
                  <a:lnTo>
                    <a:pt x="28222" y="2794000"/>
                  </a:lnTo>
                  <a:cubicBezTo>
                    <a:pt x="20737" y="2794000"/>
                    <a:pt x="13559" y="2791027"/>
                    <a:pt x="8266" y="2785734"/>
                  </a:cubicBezTo>
                  <a:cubicBezTo>
                    <a:pt x="2973" y="2780441"/>
                    <a:pt x="0" y="2773263"/>
                    <a:pt x="0" y="276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5715000" cy="276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SMARTPORTX</a:t>
              </a:r>
            </a:p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CONNECTED OPERATIONS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9750" y="2857500"/>
            <a:ext cx="4286250" cy="1095375"/>
            <a:chOff x="0" y="0"/>
            <a:chExt cx="5715000" cy="1460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432278"/>
                  </a:lnTo>
                  <a:cubicBezTo>
                    <a:pt x="5715000" y="1439763"/>
                    <a:pt x="5712027" y="1446941"/>
                    <a:pt x="5706734" y="1452234"/>
                  </a:cubicBezTo>
                  <a:cubicBezTo>
                    <a:pt x="5701441" y="1457527"/>
                    <a:pt x="5694263" y="1460500"/>
                    <a:pt x="5686778" y="1460500"/>
                  </a:cubicBezTo>
                  <a:lnTo>
                    <a:pt x="28222" y="1460500"/>
                  </a:lnTo>
                  <a:cubicBezTo>
                    <a:pt x="20737" y="1460500"/>
                    <a:pt x="13559" y="1457527"/>
                    <a:pt x="8266" y="1452234"/>
                  </a:cubicBezTo>
                  <a:cubicBezTo>
                    <a:pt x="2973" y="1446941"/>
                    <a:pt x="0" y="1439763"/>
                    <a:pt x="0" y="1432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57150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CONTAINER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09750" y="6191250"/>
            <a:ext cx="4286250" cy="1095375"/>
            <a:chOff x="0" y="0"/>
            <a:chExt cx="5715000" cy="1460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5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432278"/>
                  </a:lnTo>
                  <a:cubicBezTo>
                    <a:pt x="5715000" y="1439763"/>
                    <a:pt x="5712027" y="1446941"/>
                    <a:pt x="5706734" y="1452234"/>
                  </a:cubicBezTo>
                  <a:cubicBezTo>
                    <a:pt x="5701441" y="1457527"/>
                    <a:pt x="5694263" y="1460500"/>
                    <a:pt x="5686778" y="1460500"/>
                  </a:cubicBezTo>
                  <a:lnTo>
                    <a:pt x="28222" y="1460500"/>
                  </a:lnTo>
                  <a:cubicBezTo>
                    <a:pt x="20737" y="1460500"/>
                    <a:pt x="13559" y="1457527"/>
                    <a:pt x="8266" y="1452234"/>
                  </a:cubicBezTo>
                  <a:cubicBezTo>
                    <a:pt x="2973" y="1446941"/>
                    <a:pt x="0" y="1439763"/>
                    <a:pt x="0" y="1432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57150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00875" y="7239000"/>
            <a:ext cx="4286250" cy="1095375"/>
            <a:chOff x="0" y="0"/>
            <a:chExt cx="5715000" cy="1460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5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432278"/>
                  </a:lnTo>
                  <a:cubicBezTo>
                    <a:pt x="5715000" y="1439763"/>
                    <a:pt x="5712027" y="1446941"/>
                    <a:pt x="5706734" y="1452234"/>
                  </a:cubicBezTo>
                  <a:cubicBezTo>
                    <a:pt x="5701441" y="1457527"/>
                    <a:pt x="5694263" y="1460500"/>
                    <a:pt x="5686778" y="1460500"/>
                  </a:cubicBezTo>
                  <a:lnTo>
                    <a:pt x="28222" y="1460500"/>
                  </a:lnTo>
                  <a:cubicBezTo>
                    <a:pt x="20737" y="1460500"/>
                    <a:pt x="13559" y="1457527"/>
                    <a:pt x="8266" y="1452234"/>
                  </a:cubicBezTo>
                  <a:cubicBezTo>
                    <a:pt x="2973" y="1446941"/>
                    <a:pt x="0" y="1439763"/>
                    <a:pt x="0" y="1432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57150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GATE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92000" y="6191250"/>
            <a:ext cx="4286250" cy="1095375"/>
            <a:chOff x="0" y="0"/>
            <a:chExt cx="5715000" cy="1460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5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432278"/>
                  </a:lnTo>
                  <a:cubicBezTo>
                    <a:pt x="5715000" y="1439763"/>
                    <a:pt x="5712027" y="1446941"/>
                    <a:pt x="5706734" y="1452234"/>
                  </a:cubicBezTo>
                  <a:cubicBezTo>
                    <a:pt x="5701441" y="1457527"/>
                    <a:pt x="5694263" y="1460500"/>
                    <a:pt x="5686778" y="1460500"/>
                  </a:cubicBezTo>
                  <a:lnTo>
                    <a:pt x="28222" y="1460500"/>
                  </a:lnTo>
                  <a:cubicBezTo>
                    <a:pt x="20737" y="1460500"/>
                    <a:pt x="13559" y="1457527"/>
                    <a:pt x="8266" y="1452234"/>
                  </a:cubicBezTo>
                  <a:cubicBezTo>
                    <a:pt x="2973" y="1446941"/>
                    <a:pt x="0" y="1439763"/>
                    <a:pt x="0" y="1432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57150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VESSEL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92000" y="2857500"/>
            <a:ext cx="4286250" cy="1095375"/>
            <a:chOff x="0" y="0"/>
            <a:chExt cx="5715000" cy="1460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15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432278"/>
                  </a:lnTo>
                  <a:cubicBezTo>
                    <a:pt x="5715000" y="1439763"/>
                    <a:pt x="5712027" y="1446941"/>
                    <a:pt x="5706734" y="1452234"/>
                  </a:cubicBezTo>
                  <a:cubicBezTo>
                    <a:pt x="5701441" y="1457527"/>
                    <a:pt x="5694263" y="1460500"/>
                    <a:pt x="5686778" y="1460500"/>
                  </a:cubicBezTo>
                  <a:lnTo>
                    <a:pt x="28222" y="1460500"/>
                  </a:lnTo>
                  <a:cubicBezTo>
                    <a:pt x="20737" y="1460500"/>
                    <a:pt x="13559" y="1457527"/>
                    <a:pt x="8266" y="1452234"/>
                  </a:cubicBezTo>
                  <a:cubicBezTo>
                    <a:pt x="2973" y="1446941"/>
                    <a:pt x="0" y="1439763"/>
                    <a:pt x="0" y="1432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57150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INTEGRATION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00875" y="2286000"/>
            <a:ext cx="4286250" cy="1095375"/>
            <a:chOff x="0" y="0"/>
            <a:chExt cx="5715000" cy="1460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57150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432278"/>
                  </a:lnTo>
                  <a:cubicBezTo>
                    <a:pt x="5715000" y="1439763"/>
                    <a:pt x="5712027" y="1446941"/>
                    <a:pt x="5706734" y="1452234"/>
                  </a:cubicBezTo>
                  <a:cubicBezTo>
                    <a:pt x="5701441" y="1457527"/>
                    <a:pt x="5694263" y="1460500"/>
                    <a:pt x="5686778" y="1460500"/>
                  </a:cubicBezTo>
                  <a:lnTo>
                    <a:pt x="28222" y="1460500"/>
                  </a:lnTo>
                  <a:cubicBezTo>
                    <a:pt x="20737" y="1460500"/>
                    <a:pt x="13559" y="1457527"/>
                    <a:pt x="8266" y="1452234"/>
                  </a:cubicBezTo>
                  <a:cubicBezTo>
                    <a:pt x="2973" y="1446941"/>
                    <a:pt x="0" y="1439763"/>
                    <a:pt x="0" y="1432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57150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NOTIFICATIONS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048000" y="8877300"/>
            <a:ext cx="1219200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32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SmartPortX connects operational contexts instead of isolated workflows.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171A1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→ SmartPortX 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2952750"/>
            <a:ext cx="6667500" cy="1066800"/>
            <a:chOff x="0" y="0"/>
            <a:chExt cx="8890000" cy="142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1404257"/>
                  </a:lnTo>
                  <a:cubicBezTo>
                    <a:pt x="8890000" y="1414277"/>
                    <a:pt x="8881877" y="1422400"/>
                    <a:pt x="8871857" y="1422400"/>
                  </a:cubicBezTo>
                  <a:lnTo>
                    <a:pt x="18143" y="1422400"/>
                  </a:lnTo>
                  <a:cubicBezTo>
                    <a:pt x="8123" y="1422400"/>
                    <a:pt x="0" y="1414277"/>
                    <a:pt x="0" y="14042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890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 reshuffling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8001000" y="3486150"/>
            <a:ext cx="2000250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10191750" y="2952750"/>
            <a:ext cx="6953250" cy="1066800"/>
            <a:chOff x="0" y="0"/>
            <a:chExt cx="9271000" cy="142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71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271000">
                  <a:moveTo>
                    <a:pt x="17397" y="0"/>
                  </a:moveTo>
                  <a:lnTo>
                    <a:pt x="9253603" y="0"/>
                  </a:lnTo>
                  <a:cubicBezTo>
                    <a:pt x="9258217" y="0"/>
                    <a:pt x="9262642" y="1833"/>
                    <a:pt x="9265904" y="5096"/>
                  </a:cubicBezTo>
                  <a:cubicBezTo>
                    <a:pt x="9269167" y="8358"/>
                    <a:pt x="9271000" y="12783"/>
                    <a:pt x="9271000" y="17397"/>
                  </a:cubicBezTo>
                  <a:lnTo>
                    <a:pt x="9271000" y="1405003"/>
                  </a:lnTo>
                  <a:cubicBezTo>
                    <a:pt x="9271000" y="1409617"/>
                    <a:pt x="9269167" y="1414042"/>
                    <a:pt x="9265904" y="1417304"/>
                  </a:cubicBezTo>
                  <a:cubicBezTo>
                    <a:pt x="9262642" y="1420567"/>
                    <a:pt x="9258217" y="1422400"/>
                    <a:pt x="9253603" y="1422400"/>
                  </a:cubicBezTo>
                  <a:lnTo>
                    <a:pt x="17397" y="1422400"/>
                  </a:lnTo>
                  <a:cubicBezTo>
                    <a:pt x="12783" y="1422400"/>
                    <a:pt x="8358" y="1420567"/>
                    <a:pt x="5096" y="1417304"/>
                  </a:cubicBezTo>
                  <a:cubicBezTo>
                    <a:pt x="1833" y="1414042"/>
                    <a:pt x="0" y="1409617"/>
                    <a:pt x="0" y="1405003"/>
                  </a:cubicBezTo>
                  <a:lnTo>
                    <a:pt x="0" y="17397"/>
                  </a:lnTo>
                  <a:cubicBezTo>
                    <a:pt x="0" y="12783"/>
                    <a:pt x="1833" y="8358"/>
                    <a:pt x="5096" y="5096"/>
                  </a:cubicBezTo>
                  <a:cubicBezTo>
                    <a:pt x="8358" y="1833"/>
                    <a:pt x="12783" y="0"/>
                    <a:pt x="17397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271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Yard-aware orchestration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4171950"/>
            <a:ext cx="6667500" cy="1066800"/>
            <a:chOff x="0" y="0"/>
            <a:chExt cx="8890000" cy="142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1404257"/>
                  </a:lnTo>
                  <a:cubicBezTo>
                    <a:pt x="8890000" y="1414277"/>
                    <a:pt x="8881877" y="1422400"/>
                    <a:pt x="8871857" y="1422400"/>
                  </a:cubicBezTo>
                  <a:lnTo>
                    <a:pt x="18143" y="1422400"/>
                  </a:lnTo>
                  <a:cubicBezTo>
                    <a:pt x="8123" y="1422400"/>
                    <a:pt x="0" y="1414277"/>
                    <a:pt x="0" y="14042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8890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Gate congestion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001000" y="4705350"/>
            <a:ext cx="2000250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0191750" y="4171950"/>
            <a:ext cx="6953250" cy="1066800"/>
            <a:chOff x="0" y="0"/>
            <a:chExt cx="9271000" cy="142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71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271000">
                  <a:moveTo>
                    <a:pt x="17397" y="0"/>
                  </a:moveTo>
                  <a:lnTo>
                    <a:pt x="9253603" y="0"/>
                  </a:lnTo>
                  <a:cubicBezTo>
                    <a:pt x="9258217" y="0"/>
                    <a:pt x="9262642" y="1833"/>
                    <a:pt x="9265904" y="5096"/>
                  </a:cubicBezTo>
                  <a:cubicBezTo>
                    <a:pt x="9269167" y="8358"/>
                    <a:pt x="9271000" y="12783"/>
                    <a:pt x="9271000" y="17397"/>
                  </a:cubicBezTo>
                  <a:lnTo>
                    <a:pt x="9271000" y="1405003"/>
                  </a:lnTo>
                  <a:cubicBezTo>
                    <a:pt x="9271000" y="1409617"/>
                    <a:pt x="9269167" y="1414042"/>
                    <a:pt x="9265904" y="1417304"/>
                  </a:cubicBezTo>
                  <a:cubicBezTo>
                    <a:pt x="9262642" y="1420567"/>
                    <a:pt x="9258217" y="1422400"/>
                    <a:pt x="9253603" y="1422400"/>
                  </a:cubicBezTo>
                  <a:lnTo>
                    <a:pt x="17397" y="1422400"/>
                  </a:lnTo>
                  <a:cubicBezTo>
                    <a:pt x="12783" y="1422400"/>
                    <a:pt x="8358" y="1420567"/>
                    <a:pt x="5096" y="1417304"/>
                  </a:cubicBezTo>
                  <a:cubicBezTo>
                    <a:pt x="1833" y="1414042"/>
                    <a:pt x="0" y="1409617"/>
                    <a:pt x="0" y="1405003"/>
                  </a:cubicBezTo>
                  <a:lnTo>
                    <a:pt x="0" y="17397"/>
                  </a:lnTo>
                  <a:cubicBezTo>
                    <a:pt x="0" y="12783"/>
                    <a:pt x="1833" y="8358"/>
                    <a:pt x="5096" y="5096"/>
                  </a:cubicBezTo>
                  <a:cubicBezTo>
                    <a:pt x="8358" y="1833"/>
                    <a:pt x="12783" y="0"/>
                    <a:pt x="17397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271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Gate + truck workflow coordination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3000" y="5391150"/>
            <a:ext cx="6667500" cy="1066800"/>
            <a:chOff x="0" y="0"/>
            <a:chExt cx="8890000" cy="142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1404257"/>
                  </a:lnTo>
                  <a:cubicBezTo>
                    <a:pt x="8890000" y="1414277"/>
                    <a:pt x="8881877" y="1422400"/>
                    <a:pt x="8871857" y="1422400"/>
                  </a:cubicBezTo>
                  <a:lnTo>
                    <a:pt x="18143" y="1422400"/>
                  </a:lnTo>
                  <a:cubicBezTo>
                    <a:pt x="8123" y="1422400"/>
                    <a:pt x="0" y="1414277"/>
                    <a:pt x="0" y="14042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8890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 silos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001000" y="5924550"/>
            <a:ext cx="2000250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0191750" y="5391150"/>
            <a:ext cx="6953250" cy="1066800"/>
            <a:chOff x="0" y="0"/>
            <a:chExt cx="9271000" cy="1422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71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271000">
                  <a:moveTo>
                    <a:pt x="17397" y="0"/>
                  </a:moveTo>
                  <a:lnTo>
                    <a:pt x="9253603" y="0"/>
                  </a:lnTo>
                  <a:cubicBezTo>
                    <a:pt x="9258217" y="0"/>
                    <a:pt x="9262642" y="1833"/>
                    <a:pt x="9265904" y="5096"/>
                  </a:cubicBezTo>
                  <a:cubicBezTo>
                    <a:pt x="9269167" y="8358"/>
                    <a:pt x="9271000" y="12783"/>
                    <a:pt x="9271000" y="17397"/>
                  </a:cubicBezTo>
                  <a:lnTo>
                    <a:pt x="9271000" y="1405003"/>
                  </a:lnTo>
                  <a:cubicBezTo>
                    <a:pt x="9271000" y="1409617"/>
                    <a:pt x="9269167" y="1414042"/>
                    <a:pt x="9265904" y="1417304"/>
                  </a:cubicBezTo>
                  <a:cubicBezTo>
                    <a:pt x="9262642" y="1420567"/>
                    <a:pt x="9258217" y="1422400"/>
                    <a:pt x="9253603" y="1422400"/>
                  </a:cubicBezTo>
                  <a:lnTo>
                    <a:pt x="17397" y="1422400"/>
                  </a:lnTo>
                  <a:cubicBezTo>
                    <a:pt x="12783" y="1422400"/>
                    <a:pt x="8358" y="1420567"/>
                    <a:pt x="5096" y="1417304"/>
                  </a:cubicBezTo>
                  <a:cubicBezTo>
                    <a:pt x="1833" y="1414042"/>
                    <a:pt x="0" y="1409617"/>
                    <a:pt x="0" y="1405003"/>
                  </a:cubicBezTo>
                  <a:lnTo>
                    <a:pt x="0" y="17397"/>
                  </a:lnTo>
                  <a:cubicBezTo>
                    <a:pt x="0" y="12783"/>
                    <a:pt x="1833" y="8358"/>
                    <a:pt x="5096" y="5096"/>
                  </a:cubicBezTo>
                  <a:cubicBezTo>
                    <a:pt x="8358" y="1833"/>
                    <a:pt x="12783" y="0"/>
                    <a:pt x="17397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9271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Integration layer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3000" y="6610350"/>
            <a:ext cx="6667500" cy="1066800"/>
            <a:chOff x="0" y="0"/>
            <a:chExt cx="8890000" cy="142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1404257"/>
                  </a:lnTo>
                  <a:cubicBezTo>
                    <a:pt x="8890000" y="1414277"/>
                    <a:pt x="8881877" y="1422400"/>
                    <a:pt x="8871857" y="1422400"/>
                  </a:cubicBezTo>
                  <a:lnTo>
                    <a:pt x="18143" y="1422400"/>
                  </a:lnTo>
                  <a:cubicBezTo>
                    <a:pt x="8123" y="1422400"/>
                    <a:pt x="0" y="1414277"/>
                    <a:pt x="0" y="14042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8890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Fragmented visibility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8001000" y="7143750"/>
            <a:ext cx="2000250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0191750" y="6610350"/>
            <a:ext cx="6953250" cy="1066800"/>
            <a:chOff x="0" y="0"/>
            <a:chExt cx="9271000" cy="1422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71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271000">
                  <a:moveTo>
                    <a:pt x="17397" y="0"/>
                  </a:moveTo>
                  <a:lnTo>
                    <a:pt x="9253603" y="0"/>
                  </a:lnTo>
                  <a:cubicBezTo>
                    <a:pt x="9258217" y="0"/>
                    <a:pt x="9262642" y="1833"/>
                    <a:pt x="9265904" y="5096"/>
                  </a:cubicBezTo>
                  <a:cubicBezTo>
                    <a:pt x="9269167" y="8358"/>
                    <a:pt x="9271000" y="12783"/>
                    <a:pt x="9271000" y="17397"/>
                  </a:cubicBezTo>
                  <a:lnTo>
                    <a:pt x="9271000" y="1405003"/>
                  </a:lnTo>
                  <a:cubicBezTo>
                    <a:pt x="9271000" y="1409617"/>
                    <a:pt x="9269167" y="1414042"/>
                    <a:pt x="9265904" y="1417304"/>
                  </a:cubicBezTo>
                  <a:cubicBezTo>
                    <a:pt x="9262642" y="1420567"/>
                    <a:pt x="9258217" y="1422400"/>
                    <a:pt x="9253603" y="1422400"/>
                  </a:cubicBezTo>
                  <a:lnTo>
                    <a:pt x="17397" y="1422400"/>
                  </a:lnTo>
                  <a:cubicBezTo>
                    <a:pt x="12783" y="1422400"/>
                    <a:pt x="8358" y="1420567"/>
                    <a:pt x="5096" y="1417304"/>
                  </a:cubicBezTo>
                  <a:cubicBezTo>
                    <a:pt x="1833" y="1414042"/>
                    <a:pt x="0" y="1409617"/>
                    <a:pt x="0" y="1405003"/>
                  </a:cubicBezTo>
                  <a:lnTo>
                    <a:pt x="0" y="17397"/>
                  </a:lnTo>
                  <a:cubicBezTo>
                    <a:pt x="0" y="12783"/>
                    <a:pt x="1833" y="8358"/>
                    <a:pt x="5096" y="5096"/>
                  </a:cubicBezTo>
                  <a:cubicBezTo>
                    <a:pt x="8358" y="1833"/>
                    <a:pt x="12783" y="0"/>
                    <a:pt x="17397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9271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Central operational view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3000" y="7829550"/>
            <a:ext cx="6667500" cy="1066800"/>
            <a:chOff x="0" y="0"/>
            <a:chExt cx="8890000" cy="1422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1404257"/>
                  </a:lnTo>
                  <a:cubicBezTo>
                    <a:pt x="8890000" y="1414277"/>
                    <a:pt x="8881877" y="1422400"/>
                    <a:pt x="8871857" y="1422400"/>
                  </a:cubicBezTo>
                  <a:lnTo>
                    <a:pt x="18143" y="1422400"/>
                  </a:lnTo>
                  <a:cubicBezTo>
                    <a:pt x="8123" y="1422400"/>
                    <a:pt x="0" y="1414277"/>
                    <a:pt x="0" y="14042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8890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Delayed exceptions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8001000" y="8362950"/>
            <a:ext cx="2000250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10191750" y="7829550"/>
            <a:ext cx="6953250" cy="1066800"/>
            <a:chOff x="0" y="0"/>
            <a:chExt cx="9271000" cy="1422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71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271000">
                  <a:moveTo>
                    <a:pt x="17397" y="0"/>
                  </a:moveTo>
                  <a:lnTo>
                    <a:pt x="9253603" y="0"/>
                  </a:lnTo>
                  <a:cubicBezTo>
                    <a:pt x="9258217" y="0"/>
                    <a:pt x="9262642" y="1833"/>
                    <a:pt x="9265904" y="5096"/>
                  </a:cubicBezTo>
                  <a:cubicBezTo>
                    <a:pt x="9269167" y="8358"/>
                    <a:pt x="9271000" y="12783"/>
                    <a:pt x="9271000" y="17397"/>
                  </a:cubicBezTo>
                  <a:lnTo>
                    <a:pt x="9271000" y="1405003"/>
                  </a:lnTo>
                  <a:cubicBezTo>
                    <a:pt x="9271000" y="1409617"/>
                    <a:pt x="9269167" y="1414042"/>
                    <a:pt x="9265904" y="1417304"/>
                  </a:cubicBezTo>
                  <a:cubicBezTo>
                    <a:pt x="9262642" y="1420567"/>
                    <a:pt x="9258217" y="1422400"/>
                    <a:pt x="9253603" y="1422400"/>
                  </a:cubicBezTo>
                  <a:lnTo>
                    <a:pt x="17397" y="1422400"/>
                  </a:lnTo>
                  <a:cubicBezTo>
                    <a:pt x="12783" y="1422400"/>
                    <a:pt x="8358" y="1420567"/>
                    <a:pt x="5096" y="1417304"/>
                  </a:cubicBezTo>
                  <a:cubicBezTo>
                    <a:pt x="1833" y="1414042"/>
                    <a:pt x="0" y="1409617"/>
                    <a:pt x="0" y="1405003"/>
                  </a:cubicBezTo>
                  <a:lnTo>
                    <a:pt x="0" y="17397"/>
                  </a:lnTo>
                  <a:cubicBezTo>
                    <a:pt x="0" y="12783"/>
                    <a:pt x="1833" y="8358"/>
                    <a:pt x="5096" y="5096"/>
                  </a:cubicBezTo>
                  <a:cubicBezTo>
                    <a:pt x="8358" y="1833"/>
                    <a:pt x="12783" y="0"/>
                    <a:pt x="17397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28575"/>
              <a:ext cx="9271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Event-driven notifications + explainable support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43000" y="23336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OPERATIONAL FRICTION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91750" y="2333625"/>
            <a:ext cx="6953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COORDINATED RESPONSE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the System Works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524125"/>
            <a:ext cx="3905250" cy="781050"/>
            <a:chOff x="0" y="0"/>
            <a:chExt cx="5207000" cy="1041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07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207000">
                  <a:moveTo>
                    <a:pt x="30976" y="0"/>
                  </a:moveTo>
                  <a:lnTo>
                    <a:pt x="5176024" y="0"/>
                  </a:lnTo>
                  <a:cubicBezTo>
                    <a:pt x="5184240" y="0"/>
                    <a:pt x="5192118" y="3263"/>
                    <a:pt x="5197927" y="9073"/>
                  </a:cubicBezTo>
                  <a:cubicBezTo>
                    <a:pt x="5203737" y="14882"/>
                    <a:pt x="5207000" y="22760"/>
                    <a:pt x="5207000" y="30976"/>
                  </a:cubicBezTo>
                  <a:lnTo>
                    <a:pt x="5207000" y="1010424"/>
                  </a:lnTo>
                  <a:cubicBezTo>
                    <a:pt x="5207000" y="1018640"/>
                    <a:pt x="5203737" y="1026518"/>
                    <a:pt x="5197927" y="1032327"/>
                  </a:cubicBezTo>
                  <a:cubicBezTo>
                    <a:pt x="5192118" y="1038137"/>
                    <a:pt x="5184240" y="1041400"/>
                    <a:pt x="5176024" y="1041400"/>
                  </a:cubicBezTo>
                  <a:lnTo>
                    <a:pt x="30976" y="1041400"/>
                  </a:lnTo>
                  <a:cubicBezTo>
                    <a:pt x="22760" y="1041400"/>
                    <a:pt x="14882" y="1038137"/>
                    <a:pt x="9073" y="1032327"/>
                  </a:cubicBezTo>
                  <a:cubicBezTo>
                    <a:pt x="3263" y="1026518"/>
                    <a:pt x="0" y="1018640"/>
                    <a:pt x="0" y="1010424"/>
                  </a:cubicBezTo>
                  <a:lnTo>
                    <a:pt x="0" y="30976"/>
                  </a:lnTo>
                  <a:cubicBezTo>
                    <a:pt x="0" y="22760"/>
                    <a:pt x="3263" y="14882"/>
                    <a:pt x="9073" y="9073"/>
                  </a:cubicBezTo>
                  <a:cubicBezTo>
                    <a:pt x="14882" y="3263"/>
                    <a:pt x="22760" y="0"/>
                    <a:pt x="30976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5207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USER / OPERATOR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905125" y="3305175"/>
            <a:ext cx="0" cy="314325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952500" y="3714750"/>
            <a:ext cx="3905250" cy="781050"/>
            <a:chOff x="0" y="0"/>
            <a:chExt cx="5207000" cy="1041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7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207000">
                  <a:moveTo>
                    <a:pt x="30976" y="0"/>
                  </a:moveTo>
                  <a:lnTo>
                    <a:pt x="5176024" y="0"/>
                  </a:lnTo>
                  <a:cubicBezTo>
                    <a:pt x="5184240" y="0"/>
                    <a:pt x="5192118" y="3263"/>
                    <a:pt x="5197927" y="9073"/>
                  </a:cubicBezTo>
                  <a:cubicBezTo>
                    <a:pt x="5203737" y="14882"/>
                    <a:pt x="5207000" y="22760"/>
                    <a:pt x="5207000" y="30976"/>
                  </a:cubicBezTo>
                  <a:lnTo>
                    <a:pt x="5207000" y="1010424"/>
                  </a:lnTo>
                  <a:cubicBezTo>
                    <a:pt x="5207000" y="1018640"/>
                    <a:pt x="5203737" y="1026518"/>
                    <a:pt x="5197927" y="1032327"/>
                  </a:cubicBezTo>
                  <a:cubicBezTo>
                    <a:pt x="5192118" y="1038137"/>
                    <a:pt x="5184240" y="1041400"/>
                    <a:pt x="5176024" y="1041400"/>
                  </a:cubicBezTo>
                  <a:lnTo>
                    <a:pt x="30976" y="1041400"/>
                  </a:lnTo>
                  <a:cubicBezTo>
                    <a:pt x="22760" y="1041400"/>
                    <a:pt x="14882" y="1038137"/>
                    <a:pt x="9073" y="1032327"/>
                  </a:cubicBezTo>
                  <a:cubicBezTo>
                    <a:pt x="3263" y="1026518"/>
                    <a:pt x="0" y="1018640"/>
                    <a:pt x="0" y="1010424"/>
                  </a:cubicBezTo>
                  <a:lnTo>
                    <a:pt x="0" y="30976"/>
                  </a:lnTo>
                  <a:cubicBezTo>
                    <a:pt x="0" y="22760"/>
                    <a:pt x="3263" y="14882"/>
                    <a:pt x="9073" y="9073"/>
                  </a:cubicBezTo>
                  <a:cubicBezTo>
                    <a:pt x="14882" y="3263"/>
                    <a:pt x="22760" y="0"/>
                    <a:pt x="30976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5207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FRONTEND DASHBOARD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2905125" y="4495800"/>
            <a:ext cx="0" cy="314325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52500" y="4905375"/>
            <a:ext cx="3905250" cy="781050"/>
            <a:chOff x="0" y="0"/>
            <a:chExt cx="5207000" cy="1041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7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5207000">
                  <a:moveTo>
                    <a:pt x="30976" y="0"/>
                  </a:moveTo>
                  <a:lnTo>
                    <a:pt x="5176024" y="0"/>
                  </a:lnTo>
                  <a:cubicBezTo>
                    <a:pt x="5184240" y="0"/>
                    <a:pt x="5192118" y="3263"/>
                    <a:pt x="5197927" y="9073"/>
                  </a:cubicBezTo>
                  <a:cubicBezTo>
                    <a:pt x="5203737" y="14882"/>
                    <a:pt x="5207000" y="22760"/>
                    <a:pt x="5207000" y="30976"/>
                  </a:cubicBezTo>
                  <a:lnTo>
                    <a:pt x="5207000" y="1010424"/>
                  </a:lnTo>
                  <a:cubicBezTo>
                    <a:pt x="5207000" y="1018640"/>
                    <a:pt x="5203737" y="1026518"/>
                    <a:pt x="5197927" y="1032327"/>
                  </a:cubicBezTo>
                  <a:cubicBezTo>
                    <a:pt x="5192118" y="1038137"/>
                    <a:pt x="5184240" y="1041400"/>
                    <a:pt x="5176024" y="1041400"/>
                  </a:cubicBezTo>
                  <a:lnTo>
                    <a:pt x="30976" y="1041400"/>
                  </a:lnTo>
                  <a:cubicBezTo>
                    <a:pt x="22760" y="1041400"/>
                    <a:pt x="14882" y="1038137"/>
                    <a:pt x="9073" y="1032327"/>
                  </a:cubicBezTo>
                  <a:cubicBezTo>
                    <a:pt x="3263" y="1026518"/>
                    <a:pt x="0" y="1018640"/>
                    <a:pt x="0" y="1010424"/>
                  </a:cubicBezTo>
                  <a:lnTo>
                    <a:pt x="0" y="30976"/>
                  </a:lnTo>
                  <a:cubicBezTo>
                    <a:pt x="0" y="22760"/>
                    <a:pt x="3263" y="14882"/>
                    <a:pt x="9073" y="9073"/>
                  </a:cubicBezTo>
                  <a:cubicBezTo>
                    <a:pt x="14882" y="3263"/>
                    <a:pt x="22760" y="0"/>
                    <a:pt x="30976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2070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API GATEWAY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4857750" y="5295900"/>
            <a:ext cx="1333500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6477000" y="3143250"/>
            <a:ext cx="2238375" cy="1000125"/>
            <a:chOff x="0" y="0"/>
            <a:chExt cx="2984500" cy="133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IDENTITY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91625" y="3143250"/>
            <a:ext cx="2238375" cy="1000125"/>
            <a:chOff x="0" y="0"/>
            <a:chExt cx="2984500" cy="1333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CONTAINER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06250" y="3143250"/>
            <a:ext cx="2238375" cy="1000125"/>
            <a:chOff x="0" y="0"/>
            <a:chExt cx="2984500" cy="133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20875" y="3143250"/>
            <a:ext cx="2238375" cy="1000125"/>
            <a:chOff x="0" y="0"/>
            <a:chExt cx="2984500" cy="133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GATE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77000" y="4953000"/>
            <a:ext cx="2238375" cy="1000125"/>
            <a:chOff x="0" y="0"/>
            <a:chExt cx="2984500" cy="1333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VESSEL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91625" y="4953000"/>
            <a:ext cx="2238375" cy="1000125"/>
            <a:chOff x="0" y="0"/>
            <a:chExt cx="2984500" cy="1333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INTEGRATION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906250" y="4953000"/>
            <a:ext cx="2238375" cy="1000125"/>
            <a:chOff x="0" y="0"/>
            <a:chExt cx="2984500" cy="1333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845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984500">
                  <a:moveTo>
                    <a:pt x="54043" y="0"/>
                  </a:moveTo>
                  <a:lnTo>
                    <a:pt x="2930457" y="0"/>
                  </a:lnTo>
                  <a:cubicBezTo>
                    <a:pt x="2960304" y="0"/>
                    <a:pt x="2984500" y="24196"/>
                    <a:pt x="2984500" y="54043"/>
                  </a:cubicBezTo>
                  <a:lnTo>
                    <a:pt x="2984500" y="1279457"/>
                  </a:lnTo>
                  <a:cubicBezTo>
                    <a:pt x="2984500" y="1309304"/>
                    <a:pt x="2960304" y="1333500"/>
                    <a:pt x="2930457" y="1333500"/>
                  </a:cubicBezTo>
                  <a:lnTo>
                    <a:pt x="54043" y="1333500"/>
                  </a:lnTo>
                  <a:cubicBezTo>
                    <a:pt x="24196" y="1333500"/>
                    <a:pt x="0" y="1309304"/>
                    <a:pt x="0" y="1279457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29845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77000" y="7048500"/>
            <a:ext cx="4762500" cy="904875"/>
            <a:chOff x="0" y="0"/>
            <a:chExt cx="6350000" cy="1206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350000">
                  <a:moveTo>
                    <a:pt x="25400" y="0"/>
                  </a:moveTo>
                  <a:lnTo>
                    <a:pt x="6324600" y="0"/>
                  </a:lnTo>
                  <a:cubicBezTo>
                    <a:pt x="6338628" y="0"/>
                    <a:pt x="6350000" y="11372"/>
                    <a:pt x="6350000" y="25400"/>
                  </a:cubicBezTo>
                  <a:lnTo>
                    <a:pt x="6350000" y="1181100"/>
                  </a:lnTo>
                  <a:cubicBezTo>
                    <a:pt x="6350000" y="1195128"/>
                    <a:pt x="6338628" y="1206500"/>
                    <a:pt x="6324600" y="1206500"/>
                  </a:cubicBezTo>
                  <a:lnTo>
                    <a:pt x="25400" y="1206500"/>
                  </a:lnTo>
                  <a:cubicBezTo>
                    <a:pt x="11372" y="1206500"/>
                    <a:pt x="0" y="1195128"/>
                    <a:pt x="0" y="1181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6350000" cy="118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EUREKA · SERVICE DISCOVERY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572875" y="7048500"/>
            <a:ext cx="4762500" cy="904875"/>
            <a:chOff x="0" y="0"/>
            <a:chExt cx="6350000" cy="1206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350000">
                  <a:moveTo>
                    <a:pt x="25400" y="0"/>
                  </a:moveTo>
                  <a:lnTo>
                    <a:pt x="6324600" y="0"/>
                  </a:lnTo>
                  <a:cubicBezTo>
                    <a:pt x="6338628" y="0"/>
                    <a:pt x="6350000" y="11372"/>
                    <a:pt x="6350000" y="25400"/>
                  </a:cubicBezTo>
                  <a:lnTo>
                    <a:pt x="6350000" y="1181100"/>
                  </a:lnTo>
                  <a:cubicBezTo>
                    <a:pt x="6350000" y="1195128"/>
                    <a:pt x="6338628" y="1206500"/>
                    <a:pt x="6324600" y="1206500"/>
                  </a:cubicBezTo>
                  <a:lnTo>
                    <a:pt x="25400" y="1206500"/>
                  </a:lnTo>
                  <a:cubicBezTo>
                    <a:pt x="11372" y="1206500"/>
                    <a:pt x="0" y="1195128"/>
                    <a:pt x="0" y="1181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19050"/>
              <a:ext cx="6350000" cy="118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RABBITMQ · EVENTS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V="true">
            <a:off x="8858250" y="6191250"/>
            <a:ext cx="0" cy="8572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 flipV="true">
            <a:off x="13954125" y="6191250"/>
            <a:ext cx="0" cy="8572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8" id="48"/>
          <p:cNvSpPr txBox="true"/>
          <p:nvPr/>
        </p:nvSpPr>
        <p:spPr>
          <a:xfrm rot="0">
            <a:off x="6477000" y="8315325"/>
            <a:ext cx="9858375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service owns its operational data boundary · PostgreSQL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SmartPort-X Modules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857500"/>
            <a:ext cx="3714750" cy="2286000"/>
            <a:chOff x="0" y="0"/>
            <a:chExt cx="4953000" cy="304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3086100"/>
            <a:ext cx="590550" cy="590550"/>
            <a:chOff x="0" y="0"/>
            <a:chExt cx="787400" cy="78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4A505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29200" y="2857500"/>
            <a:ext cx="3714750" cy="2286000"/>
            <a:chOff x="0" y="0"/>
            <a:chExt cx="4953000" cy="304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57800" y="3086100"/>
            <a:ext cx="590550" cy="590550"/>
            <a:chOff x="0" y="0"/>
            <a:chExt cx="787400" cy="787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4A5055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2857500"/>
            <a:ext cx="3714750" cy="2286000"/>
            <a:chOff x="0" y="0"/>
            <a:chExt cx="4953000" cy="304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72600" y="3086100"/>
            <a:ext cx="590550" cy="590550"/>
            <a:chOff x="0" y="0"/>
            <a:chExt cx="787400" cy="78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58800" y="2857500"/>
            <a:ext cx="3714750" cy="2286000"/>
            <a:chOff x="0" y="0"/>
            <a:chExt cx="4953000" cy="304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87400" y="3086100"/>
            <a:ext cx="590550" cy="590550"/>
            <a:chOff x="0" y="0"/>
            <a:chExt cx="787400" cy="787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5715000"/>
            <a:ext cx="3714750" cy="2286000"/>
            <a:chOff x="0" y="0"/>
            <a:chExt cx="4953000" cy="3048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3000" y="5943600"/>
            <a:ext cx="590550" cy="590550"/>
            <a:chOff x="0" y="0"/>
            <a:chExt cx="787400" cy="787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4A5055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29200" y="5715000"/>
            <a:ext cx="3714750" cy="2286000"/>
            <a:chOff x="0" y="0"/>
            <a:chExt cx="4953000" cy="3048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57800" y="5943600"/>
            <a:ext cx="590550" cy="590550"/>
            <a:chOff x="0" y="0"/>
            <a:chExt cx="787400" cy="787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4A5055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06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0" y="5715000"/>
            <a:ext cx="3714750" cy="2286000"/>
            <a:chOff x="0" y="0"/>
            <a:chExt cx="4953000" cy="3048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72600" y="5943600"/>
            <a:ext cx="590550" cy="590550"/>
            <a:chOff x="0" y="0"/>
            <a:chExt cx="787400" cy="787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4A5055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07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258800" y="5715000"/>
            <a:ext cx="3714750" cy="2286000"/>
            <a:chOff x="0" y="0"/>
            <a:chExt cx="4953000" cy="3048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487400" y="5943600"/>
            <a:ext cx="590550" cy="590550"/>
            <a:chOff x="0" y="0"/>
            <a:chExt cx="787400" cy="787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204839" y="0"/>
                  </a:moveTo>
                  <a:lnTo>
                    <a:pt x="582561" y="0"/>
                  </a:lnTo>
                  <a:cubicBezTo>
                    <a:pt x="695691" y="0"/>
                    <a:pt x="787400" y="91709"/>
                    <a:pt x="787400" y="204839"/>
                  </a:cubicBezTo>
                  <a:lnTo>
                    <a:pt x="787400" y="582561"/>
                  </a:lnTo>
                  <a:cubicBezTo>
                    <a:pt x="787400" y="695691"/>
                    <a:pt x="695691" y="787400"/>
                    <a:pt x="582561" y="787400"/>
                  </a:cubicBezTo>
                  <a:lnTo>
                    <a:pt x="204839" y="787400"/>
                  </a:lnTo>
                  <a:cubicBezTo>
                    <a:pt x="91709" y="787400"/>
                    <a:pt x="0" y="695691"/>
                    <a:pt x="0" y="582561"/>
                  </a:cubicBezTo>
                  <a:lnTo>
                    <a:pt x="0" y="204839"/>
                  </a:lnTo>
                  <a:cubicBezTo>
                    <a:pt x="0" y="91709"/>
                    <a:pt x="91709" y="0"/>
                    <a:pt x="204839" y="0"/>
                  </a:cubicBezTo>
                  <a:close/>
                </a:path>
              </a:pathLst>
            </a:custGeom>
            <a:solidFill>
              <a:srgbClr val="4A50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787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08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43000" y="39719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IDENTITY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43000" y="43719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Authentication + RBAC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257800" y="39719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CONTAINER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257800" y="43719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Lifecycle + operational state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372600" y="39719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YARD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372600" y="43719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Layout, moves, optimization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87400" y="39719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487400" y="43719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Truck, queue, EIR workflows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43000" y="68294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VESSEL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43000" y="72294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Schedules + discharge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257800" y="68294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257800" y="72294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External systems + EDIFACT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372600" y="68294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NOTIFICATION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372600" y="72294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Operational alerts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487400" y="6829425"/>
            <a:ext cx="323850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487400" y="7229475"/>
            <a:ext cx="3238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7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Unified visibility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171A1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Container Arrival → Yard Operation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2000" y="3714750"/>
            <a:ext cx="1952625" cy="1428750"/>
            <a:chOff x="0" y="0"/>
            <a:chExt cx="26035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INFO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ENTERS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714625" y="4429125"/>
            <a:ext cx="428625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3267075" y="3714750"/>
            <a:ext cx="1952625" cy="1428750"/>
            <a:chOff x="0" y="0"/>
            <a:chExt cx="26035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GATE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PROCESSED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5219700" y="4429125"/>
            <a:ext cx="428625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5772150" y="3714750"/>
            <a:ext cx="1952625" cy="1428750"/>
            <a:chOff x="0" y="0"/>
            <a:chExt cx="26035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STATE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UPDATED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7724775" y="4429125"/>
            <a:ext cx="428625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8277225" y="3714750"/>
            <a:ext cx="1952625" cy="1428750"/>
            <a:chOff x="0" y="0"/>
            <a:chExt cx="26035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PLACEMENT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0229850" y="4429125"/>
            <a:ext cx="428625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0782300" y="3714750"/>
            <a:ext cx="1952625" cy="1428750"/>
            <a:chOff x="0" y="0"/>
            <a:chExt cx="26035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VESSEL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LINK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2734925" y="4429125"/>
            <a:ext cx="428625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3287375" y="3714750"/>
            <a:ext cx="1952625" cy="1428750"/>
            <a:chOff x="0" y="0"/>
            <a:chExt cx="26035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EVENTS +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INTEGRATION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5240000" y="4429125"/>
            <a:ext cx="428625" cy="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15792450" y="3714750"/>
            <a:ext cx="1952625" cy="1428750"/>
            <a:chOff x="0" y="0"/>
            <a:chExt cx="2603500" cy="1905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03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603500">
                  <a:moveTo>
                    <a:pt x="61951" y="0"/>
                  </a:moveTo>
                  <a:lnTo>
                    <a:pt x="2541549" y="0"/>
                  </a:lnTo>
                  <a:cubicBezTo>
                    <a:pt x="2557979" y="0"/>
                    <a:pt x="2573737" y="6527"/>
                    <a:pt x="2585355" y="18145"/>
                  </a:cubicBezTo>
                  <a:cubicBezTo>
                    <a:pt x="2596973" y="29763"/>
                    <a:pt x="2603500" y="45521"/>
                    <a:pt x="2603500" y="61951"/>
                  </a:cubicBezTo>
                  <a:lnTo>
                    <a:pt x="2603500" y="1843049"/>
                  </a:lnTo>
                  <a:cubicBezTo>
                    <a:pt x="2603500" y="1859479"/>
                    <a:pt x="2596973" y="1875237"/>
                    <a:pt x="2585355" y="1886855"/>
                  </a:cubicBezTo>
                  <a:cubicBezTo>
                    <a:pt x="2573737" y="1898473"/>
                    <a:pt x="2557979" y="1905000"/>
                    <a:pt x="2541549" y="1905000"/>
                  </a:cubicBezTo>
                  <a:lnTo>
                    <a:pt x="61951" y="1905000"/>
                  </a:lnTo>
                  <a:cubicBezTo>
                    <a:pt x="45521" y="1905000"/>
                    <a:pt x="29763" y="1898473"/>
                    <a:pt x="18145" y="1886855"/>
                  </a:cubicBezTo>
                  <a:cubicBezTo>
                    <a:pt x="6527" y="1875237"/>
                    <a:pt x="0" y="1859479"/>
                    <a:pt x="0" y="1843049"/>
                  </a:cubicBezTo>
                  <a:lnTo>
                    <a:pt x="0" y="61951"/>
                  </a:lnTo>
                  <a:cubicBezTo>
                    <a:pt x="0" y="45521"/>
                    <a:pt x="6527" y="29763"/>
                    <a:pt x="18145" y="18145"/>
                  </a:cubicBezTo>
                  <a:cubicBezTo>
                    <a:pt x="29763" y="6527"/>
                    <a:pt x="45521" y="0"/>
                    <a:pt x="61951" y="0"/>
                  </a:cubicBez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2603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OPERATOR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VIEW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286000" y="6705600"/>
            <a:ext cx="13716000" cy="27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"/>
              </a:lnSpc>
            </a:pPr>
            <a:r>
              <a:rPr lang="en-US" sz="2100" b="true">
                <a:solidFill>
                  <a:srgbClr val="171A1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coordinated operational state — updated across gate, yard, vessel and integration contexts.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2000" y="3209925"/>
            <a:ext cx="16954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01           02           03           04           05           06           07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Makes SmartPort-X Different?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0125" y="2667000"/>
            <a:ext cx="4953000" cy="1571625"/>
            <a:chOff x="0" y="0"/>
            <a:chExt cx="6604000" cy="209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15125" y="2667000"/>
            <a:ext cx="4953000" cy="1571625"/>
            <a:chOff x="0" y="0"/>
            <a:chExt cx="6604000" cy="2095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30125" y="2667000"/>
            <a:ext cx="4953000" cy="1571625"/>
            <a:chOff x="0" y="0"/>
            <a:chExt cx="6604000" cy="2095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0125" y="4714875"/>
            <a:ext cx="4953000" cy="1571625"/>
            <a:chOff x="0" y="0"/>
            <a:chExt cx="6604000" cy="2095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15125" y="4714875"/>
            <a:ext cx="4953000" cy="1571625"/>
            <a:chOff x="0" y="0"/>
            <a:chExt cx="6604000" cy="2095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30125" y="4714875"/>
            <a:ext cx="4953000" cy="1571625"/>
            <a:chOff x="0" y="0"/>
            <a:chExt cx="6604000" cy="2095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0125" y="6762750"/>
            <a:ext cx="4953000" cy="1571625"/>
            <a:chOff x="0" y="0"/>
            <a:chExt cx="6604000" cy="2095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15125" y="6762750"/>
            <a:ext cx="4953000" cy="1571625"/>
            <a:chOff x="0" y="0"/>
            <a:chExt cx="6604000" cy="2095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30125" y="6762750"/>
            <a:ext cx="4953000" cy="1571625"/>
            <a:chOff x="0" y="0"/>
            <a:chExt cx="6604000" cy="2095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0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1C20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60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23975" y="3209925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Explainable yard optimization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38975" y="3209925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Service-based architecture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53975" y="3209925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Event-driven communication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3975" y="5257800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Gateway-based access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38975" y="5257800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Role-based security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53975" y="5257800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EDIFACT integration layer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3975" y="7305675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Operational notifications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38975" y="7305675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Unified dashboard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53975" y="7305675"/>
            <a:ext cx="4286250" cy="25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5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Traceable operational state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0125" y="9115425"/>
            <a:ext cx="16287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b="true" sz="1425" spc="171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INTELLIGENT ORCHESTRATION — WITHOUT THE BUZZWORDS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171A1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 Stack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571750"/>
            <a:ext cx="7810500" cy="1333500"/>
            <a:chOff x="0" y="0"/>
            <a:chExt cx="10414000" cy="177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82125" y="2571750"/>
            <a:ext cx="7810500" cy="1333500"/>
            <a:chOff x="0" y="0"/>
            <a:chExt cx="104140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7750" y="4286250"/>
            <a:ext cx="7810500" cy="1333500"/>
            <a:chOff x="0" y="0"/>
            <a:chExt cx="10414000" cy="177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82125" y="4286250"/>
            <a:ext cx="7810500" cy="1333500"/>
            <a:chOff x="0" y="0"/>
            <a:chExt cx="10414000" cy="177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7750" y="6000750"/>
            <a:ext cx="7810500" cy="1333500"/>
            <a:chOff x="0" y="0"/>
            <a:chExt cx="10414000" cy="177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82125" y="6000750"/>
            <a:ext cx="7810500" cy="1333500"/>
            <a:chOff x="0" y="0"/>
            <a:chExt cx="10414000" cy="177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7750" y="7715250"/>
            <a:ext cx="7810500" cy="1333500"/>
            <a:chOff x="0" y="0"/>
            <a:chExt cx="10414000" cy="177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82125" y="7715250"/>
            <a:ext cx="7810500" cy="1333500"/>
            <a:chOff x="0" y="0"/>
            <a:chExt cx="10414000" cy="1778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71A1D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33500" y="27908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FRONTEND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05250" y="29622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React · TypeScript · Vite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67875" y="27908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F0EDE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BACKEND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39625" y="29622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Java · Spring Boot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3500" y="45053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ARCHITECTURE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05250" y="46767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Service-based · distributed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67875" y="45053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39625" y="46767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PostgreSQL · Flyway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3500" y="62198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EVENTS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05250" y="63912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RabbitMQ · Eureka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7875" y="62198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SECURITY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39625" y="63912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JWT · RBAC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3500" y="79343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INFRASTRUCTURE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05250" y="8105775"/>
            <a:ext cx="4572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Docker · Docker Compose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67875" y="7934325"/>
            <a:ext cx="2476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OBSERVABILITY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39625" y="8105775"/>
            <a:ext cx="4572000" cy="59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F0ED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OpenTelemetry · Prometheus · Grafana · Jaeger*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7750" y="9601200"/>
            <a:ext cx="476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171A1D"/>
                </a:solidFill>
                <a:latin typeface="IBM Plex Sans"/>
                <a:ea typeface="IBM Plex Sans"/>
                <a:cs typeface="IBM Plex Sans"/>
                <a:sym typeface="IBM Plex Sans"/>
              </a:rPr>
              <a:t>* where implemented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SmartPortX Provides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952750" y="3048000"/>
            <a:ext cx="6191250" cy="17145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2952750" y="4762500"/>
            <a:ext cx="6191250" cy="1905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2952750" y="4762500"/>
            <a:ext cx="6191250" cy="20955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V="true">
            <a:off x="6953250" y="4762500"/>
            <a:ext cx="2190750" cy="3381375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9144000" y="4762500"/>
            <a:ext cx="1762125" cy="3381375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9144000" y="4762500"/>
            <a:ext cx="6191250" cy="20955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9144000" y="4762500"/>
            <a:ext cx="6191250" cy="1905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H="true">
            <a:off x="9144000" y="3048000"/>
            <a:ext cx="6191250" cy="171450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8905875" y="2571750"/>
            <a:ext cx="238125" cy="2190750"/>
          </a:xfrm>
          <a:prstGeom prst="line">
            <a:avLst/>
          </a:prstGeom>
          <a:ln cap="rnd" w="38100">
            <a:solidFill>
              <a:srgbClr val="4A505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6905625" y="3857625"/>
            <a:ext cx="4476750" cy="1809750"/>
            <a:chOff x="0" y="0"/>
            <a:chExt cx="59690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9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9690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2385979"/>
                  </a:lnTo>
                  <a:cubicBezTo>
                    <a:pt x="5969000" y="2393145"/>
                    <a:pt x="5966153" y="2400018"/>
                    <a:pt x="5961086" y="2405086"/>
                  </a:cubicBezTo>
                  <a:cubicBezTo>
                    <a:pt x="5956018" y="2410153"/>
                    <a:pt x="5949145" y="2413000"/>
                    <a:pt x="5941979" y="2413000"/>
                  </a:cubicBezTo>
                  <a:lnTo>
                    <a:pt x="27021" y="2413000"/>
                  </a:lnTo>
                  <a:cubicBezTo>
                    <a:pt x="19855" y="2413000"/>
                    <a:pt x="12982" y="2410153"/>
                    <a:pt x="7914" y="2405086"/>
                  </a:cubicBezTo>
                  <a:cubicBezTo>
                    <a:pt x="2847" y="2400018"/>
                    <a:pt x="0" y="2393145"/>
                    <a:pt x="0" y="2385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5969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COORDINATED</a:t>
              </a:r>
            </a:p>
            <a:p>
              <a:pPr algn="ctr">
                <a:lnSpc>
                  <a:spcPts val="2557"/>
                </a:lnSpc>
              </a:pPr>
              <a:r>
                <a:rPr lang="en-US" sz="232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OPERATIONAL FOUNDATION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" y="2571750"/>
            <a:ext cx="4000500" cy="952500"/>
            <a:chOff x="0" y="0"/>
            <a:chExt cx="5334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Central visibility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2500" y="4476750"/>
            <a:ext cx="4000500" cy="952500"/>
            <a:chOff x="0" y="0"/>
            <a:chExt cx="5334000" cy="127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Yard + gate coordination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" y="6381750"/>
            <a:ext cx="4000500" cy="952500"/>
            <a:chOff x="0" y="0"/>
            <a:chExt cx="5334000" cy="127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Container lifecycle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53000" y="7667625"/>
            <a:ext cx="4000500" cy="952500"/>
            <a:chOff x="0" y="0"/>
            <a:chExt cx="5334000" cy="127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Role-based access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05875" y="7667625"/>
            <a:ext cx="4000500" cy="952500"/>
            <a:chOff x="0" y="0"/>
            <a:chExt cx="5334000" cy="127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Service separation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335000" y="6381750"/>
            <a:ext cx="4000500" cy="952500"/>
            <a:chOff x="0" y="0"/>
            <a:chExt cx="5334000" cy="127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Integration support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335000" y="4476750"/>
            <a:ext cx="4000500" cy="952500"/>
            <a:chOff x="0" y="0"/>
            <a:chExt cx="5334000" cy="127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Exception awareness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35000" y="2571750"/>
            <a:ext cx="4000500" cy="952500"/>
            <a:chOff x="0" y="0"/>
            <a:chExt cx="5334000" cy="127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Explainable support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905625" y="2095500"/>
            <a:ext cx="4000500" cy="952500"/>
            <a:chOff x="0" y="0"/>
            <a:chExt cx="5334000" cy="127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3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334000">
                  <a:moveTo>
                    <a:pt x="30238" y="0"/>
                  </a:moveTo>
                  <a:lnTo>
                    <a:pt x="5303762" y="0"/>
                  </a:lnTo>
                  <a:cubicBezTo>
                    <a:pt x="5311782" y="0"/>
                    <a:pt x="5319473" y="3186"/>
                    <a:pt x="5325144" y="8857"/>
                  </a:cubicBezTo>
                  <a:cubicBezTo>
                    <a:pt x="5330814" y="14527"/>
                    <a:pt x="5334000" y="22218"/>
                    <a:pt x="5334000" y="30238"/>
                  </a:cubicBezTo>
                  <a:lnTo>
                    <a:pt x="5334000" y="1239762"/>
                  </a:lnTo>
                  <a:cubicBezTo>
                    <a:pt x="5334000" y="1247782"/>
                    <a:pt x="5330814" y="1255473"/>
                    <a:pt x="5325144" y="1261143"/>
                  </a:cubicBezTo>
                  <a:cubicBezTo>
                    <a:pt x="5319473" y="1266814"/>
                    <a:pt x="5311782" y="1270000"/>
                    <a:pt x="5303762" y="1270000"/>
                  </a:cubicBezTo>
                  <a:lnTo>
                    <a:pt x="30238" y="1270000"/>
                  </a:lnTo>
                  <a:cubicBezTo>
                    <a:pt x="22218" y="1270000"/>
                    <a:pt x="14527" y="1266814"/>
                    <a:pt x="8857" y="1261143"/>
                  </a:cubicBezTo>
                  <a:cubicBezTo>
                    <a:pt x="3186" y="1255473"/>
                    <a:pt x="0" y="1247782"/>
                    <a:pt x="0" y="123976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7" y="8857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19050"/>
              <a:ext cx="5334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Near-real-time foundation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23950"/>
            <a:ext cx="15240000" cy="60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465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28575"/>
            <a:chOff x="0" y="0"/>
            <a:chExt cx="219456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14500" y="2476500"/>
            <a:ext cx="6667500" cy="952500"/>
            <a:chOff x="0" y="0"/>
            <a:chExt cx="8890000" cy="127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8890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1251857"/>
                  </a:lnTo>
                  <a:cubicBezTo>
                    <a:pt x="8890000" y="1261877"/>
                    <a:pt x="8881877" y="1270000"/>
                    <a:pt x="8871857" y="1270000"/>
                  </a:cubicBezTo>
                  <a:lnTo>
                    <a:pt x="18143" y="1270000"/>
                  </a:lnTo>
                  <a:cubicBezTo>
                    <a:pt x="8123" y="1270000"/>
                    <a:pt x="0" y="1261877"/>
                    <a:pt x="0" y="1251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889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PROBLEM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048250" y="3429000"/>
            <a:ext cx="1905000" cy="55245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3143250" y="4095750"/>
            <a:ext cx="7620000" cy="952500"/>
            <a:chOff x="0" y="0"/>
            <a:chExt cx="101600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00">
                  <a:moveTo>
                    <a:pt x="15875" y="0"/>
                  </a:moveTo>
                  <a:lnTo>
                    <a:pt x="10144125" y="0"/>
                  </a:lnTo>
                  <a:cubicBezTo>
                    <a:pt x="10152893" y="0"/>
                    <a:pt x="10160000" y="7107"/>
                    <a:pt x="10160000" y="15875"/>
                  </a:cubicBezTo>
                  <a:lnTo>
                    <a:pt x="10160000" y="1254125"/>
                  </a:lnTo>
                  <a:cubicBezTo>
                    <a:pt x="10160000" y="1262892"/>
                    <a:pt x="10152893" y="1270000"/>
                    <a:pt x="10144125" y="1270000"/>
                  </a:cubicBezTo>
                  <a:lnTo>
                    <a:pt x="15875" y="1270000"/>
                  </a:lnTo>
                  <a:cubicBezTo>
                    <a:pt x="7107" y="1270000"/>
                    <a:pt x="0" y="1262892"/>
                    <a:pt x="0" y="1254125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016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COORDINATION GAP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953250" y="5048250"/>
            <a:ext cx="1905000" cy="55245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4572000" y="5715000"/>
            <a:ext cx="8572500" cy="952500"/>
            <a:chOff x="0" y="0"/>
            <a:chExt cx="11430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1430000">
                  <a:moveTo>
                    <a:pt x="14111" y="0"/>
                  </a:moveTo>
                  <a:lnTo>
                    <a:pt x="11415889" y="0"/>
                  </a:lnTo>
                  <a:cubicBezTo>
                    <a:pt x="11419632" y="0"/>
                    <a:pt x="11423221" y="1487"/>
                    <a:pt x="11425867" y="4133"/>
                  </a:cubicBezTo>
                  <a:cubicBezTo>
                    <a:pt x="11428513" y="6779"/>
                    <a:pt x="11430000" y="10369"/>
                    <a:pt x="11430000" y="14111"/>
                  </a:cubicBezTo>
                  <a:lnTo>
                    <a:pt x="11430000" y="1255889"/>
                  </a:lnTo>
                  <a:cubicBezTo>
                    <a:pt x="11430000" y="1259631"/>
                    <a:pt x="11428513" y="1263221"/>
                    <a:pt x="11425867" y="1265867"/>
                  </a:cubicBezTo>
                  <a:cubicBezTo>
                    <a:pt x="11423221" y="1268513"/>
                    <a:pt x="11419632" y="1270000"/>
                    <a:pt x="11415889" y="1270000"/>
                  </a:cubicBezTo>
                  <a:lnTo>
                    <a:pt x="14111" y="1270000"/>
                  </a:lnTo>
                  <a:cubicBezTo>
                    <a:pt x="10369" y="1270000"/>
                    <a:pt x="6779" y="1268513"/>
                    <a:pt x="4133" y="1265867"/>
                  </a:cubicBezTo>
                  <a:cubicBezTo>
                    <a:pt x="1487" y="1263221"/>
                    <a:pt x="0" y="1259631"/>
                    <a:pt x="0" y="1255889"/>
                  </a:cubicBezTo>
                  <a:lnTo>
                    <a:pt x="0" y="14111"/>
                  </a:lnTo>
                  <a:cubicBezTo>
                    <a:pt x="0" y="10369"/>
                    <a:pt x="1487" y="6779"/>
                    <a:pt x="4133" y="4133"/>
                  </a:cubicBezTo>
                  <a:cubicBezTo>
                    <a:pt x="6779" y="1487"/>
                    <a:pt x="10369" y="0"/>
                    <a:pt x="14111" y="0"/>
                  </a:cubicBezTo>
                  <a:close/>
                </a:path>
              </a:pathLst>
            </a:custGeom>
            <a:solidFill>
              <a:srgbClr val="B52A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143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SMARTPORTX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858250" y="6667500"/>
            <a:ext cx="1905000" cy="552450"/>
          </a:xfrm>
          <a:prstGeom prst="line">
            <a:avLst/>
          </a:prstGeom>
          <a:ln cap="rnd" w="38100">
            <a:solidFill>
              <a:srgbClr val="B52A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6000750" y="7334250"/>
            <a:ext cx="9525000" cy="952500"/>
            <a:chOff x="0" y="0"/>
            <a:chExt cx="12700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0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0">
                  <a:moveTo>
                    <a:pt x="12700" y="0"/>
                  </a:moveTo>
                  <a:lnTo>
                    <a:pt x="12687300" y="0"/>
                  </a:lnTo>
                  <a:cubicBezTo>
                    <a:pt x="12694314" y="0"/>
                    <a:pt x="12700000" y="5686"/>
                    <a:pt x="12700000" y="12700"/>
                  </a:cubicBezTo>
                  <a:lnTo>
                    <a:pt x="12700000" y="1257300"/>
                  </a:lnTo>
                  <a:cubicBezTo>
                    <a:pt x="12700000" y="1264314"/>
                    <a:pt x="12694314" y="1270000"/>
                    <a:pt x="12687300" y="1270000"/>
                  </a:cubicBezTo>
                  <a:lnTo>
                    <a:pt x="12700" y="1270000"/>
                  </a:lnTo>
                  <a:cubicBezTo>
                    <a:pt x="5686" y="1270000"/>
                    <a:pt x="0" y="1264314"/>
                    <a:pt x="0" y="1257300"/>
                  </a:cubicBez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26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270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0EDE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CONNECTED OPERATIONS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301441" y="1490091"/>
            <a:ext cx="6572250" cy="170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 b="true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SmartPortX addresses a coordination problem — not another CRUD app.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1441" y="3467100"/>
            <a:ext cx="6572250" cy="133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AEB3B7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connecting container, yard, gate, vessel and integration workflows through a service-based platform, it creates a unified foundation for better visibility, coordination and decision support.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4233" y="9229725"/>
            <a:ext cx="4108035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52A3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SMARTPORTX · CONNECTED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DAHV8ZpAkXA</dc:identifier>
  <dcterms:modified xsi:type="dcterms:W3CDTF">2011-08-01T06:04:30Z</dcterms:modified>
  <cp:revision>1</cp:revision>
  <dc:title>SmartPortX Project Review</dc:title>
</cp:coreProperties>
</file>